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1274552" cy="237744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微软雅黑"/>
              </a:rPr>
              <a:t>CdTe探测器脉冲堆积效应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D700"/>
                </a:solidFill>
                <a:latin typeface="微软雅黑"/>
              </a:rPr>
              <a:t>仿真与分析工具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6E8F5"/>
                </a:solidFill>
                <a:latin typeface="微软雅黑"/>
              </a:rPr>
              <a:t>Simulation and Analysis Tool for Pulse Accumulation Effect of CdTe Detectors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4617720"/>
            <a:ext cx="6702552" cy="36576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8F5"/>
                </a:solidFill>
                <a:latin typeface="微软雅黑"/>
              </a:rPr>
              <a:t>基于物理的高保真度X射线探测器性能仿真  |  迭代去卷积校正算法  |  2026年3月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" cy="57607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微软雅黑"/>
              </a:rP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94360" cy="50292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138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138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微软雅黑"/>
              </a:rPr>
              <a:t>项目概述与背景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594360" cy="50292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996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99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微软雅黑"/>
              </a:rPr>
              <a:t>CdTe探测器物理原理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94360" cy="50292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854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85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微软雅黑"/>
              </a:rPr>
              <a:t>X射线源能谱模型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594360" cy="50292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5712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71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微软雅黑"/>
              </a:rPr>
              <a:t>探测器响应仿真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594360" cy="50292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570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257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微软雅黑"/>
              </a:rPr>
              <a:t>脉冲堆积效应仿真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92040"/>
            <a:ext cx="594360" cy="50292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428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428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微软雅黑"/>
              </a:rPr>
              <a:t>去堆积校正算法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594360" cy="50292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62864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6286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3A5C"/>
                </a:solidFill>
                <a:latin typeface="微软雅黑"/>
              </a:rPr>
              <a:t>可视化输出与结果分析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01  项目概述与背景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303520" cy="52120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303520" cy="45720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项目目标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5166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模拟CdTe探测器在X射线照射下的脉冲堆积现象</a:t>
            </a:r>
          </a:p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实现脉冲信号去堆积与能谱重建</a:t>
            </a:r>
          </a:p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直观展示探测器性能对检测结果的影响</a:t>
            </a:r>
          </a:p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验证迭代去卷积校正算法的有效性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5943600" cy="5212080"/>
          </a:xfrm>
          <a:prstGeom prst="rect">
            <a:avLst/>
          </a:prstGeom>
          <a:solidFill>
            <a:srgbClr val="FD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5943600" cy="45720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298448"/>
            <a:ext cx="5852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软雅黑"/>
              </a:rPr>
              <a:t>六大功能模块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X射线源能谱模型（轫致辐射 + 特征谱线）</a:t>
            </a:r>
          </a:p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CdTe探测器响应仿真（分辨率 + 效率）</a:t>
            </a:r>
          </a:p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脉冲波形仿真（双指数模型）</a:t>
            </a:r>
          </a:p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脉冲堆积效应仿真（蒙特卡洛方法）</a:t>
            </a:r>
          </a:p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去堆积校正算法（迭代去卷积）</a:t>
            </a:r>
          </a:p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▶ 综合可视化（7+4子图输出）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02  CdTe探测器物理原理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394960" cy="24231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94960" cy="438912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碲化镉（CdTe）材料优势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高原子序数：Cd(Z=48) + Te(Z=52)，高吸收效率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高密度：5.85 g/cm³，比硅探测器高约4倍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室温工作：无需液氮冷却，便携性好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能量分辨率：约1–2% @ 60 keV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760720" cy="242316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252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脉冲堆积效应（Pulse Pile-up）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微软雅黑"/>
              </a:rPr>
              <a:t>▶ 相邻光子脉冲在时间上重叠，被误判为单个高能事件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微软雅黑"/>
              </a:rPr>
              <a:t>▶ 高能端产生虚假计数，能谱失真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微软雅黑"/>
              </a:rPr>
              <a:t>▶ 真实计数率被低估（15–20%损失）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微软雅黑"/>
              </a:rPr>
              <a:t>▶ 特征谱线强度比例失真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11612880" cy="256032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1161288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858768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堆积概率（泊松统计）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A5C"/>
                </a:solidFill>
                <a:latin typeface="微软雅黑"/>
              </a:rPr>
              <a:t>P pile-up = 1 − exp(−λ × 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微软雅黑"/>
              </a:rPr>
              <a:t>λ = 计数率（cps）   τ = 成形时间（s）
仿真参数：λ = 10⁵ cps，τ = 2.0 μs → P ≈ 18.1%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03  X射线源能谱模型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486400" cy="26060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486400" cy="438912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连续轫致辐射谱（Bremsstrahlung）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647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8"/>
                </a:solidFill>
                <a:latin typeface="微软雅黑"/>
              </a:rPr>
              <a:t>Kramers定律：I(E) = K · Z · (E_max / E − 1)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钨靶（Z=74），管电压120 kV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低能端铍窗吸收修正（截止~9.6 keV）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500个能量通道均匀采样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归一化至最大强度为1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2606040"/>
          </a:xfrm>
          <a:prstGeom prst="rect">
            <a:avLst/>
          </a:prstGeom>
          <a:solidFill>
            <a:srgbClr val="FD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760720" cy="43891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52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钨靶特征谱线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64792"/>
            <a:ext cx="5577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  <a:latin typeface="微软雅黑"/>
              </a:rPr>
              <a:t>L系列：Lα  8.40 keV（强度 0.020）
         Lβ  9.67 keV（强度 0.015）
         Lγ 11.29 keV（强度 0.008）
K系列：Kα₁ 59.32 keV（最强，0.100）
         Kα₂ 57.98 keV（强度 0.056）
         Kβ₁ 67.24 keV（强度 0.022）
         Kβ₂ 69.10 keV（强度 0.006）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77639"/>
            <a:ext cx="11612880" cy="24231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77639"/>
            <a:ext cx="11612880" cy="438912"/>
          </a:xfrm>
          <a:prstGeom prst="rect">
            <a:avLst/>
          </a:prstGeom>
          <a:solidFill>
            <a:srgbClr val="554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95928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源谱合成方法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07992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A5C"/>
                </a:solidFill>
                <a:latin typeface="微软雅黑"/>
              </a:rPr>
              <a:t>最终源谱 = 70% × 连续轫致辐射谱 + 30% × 特征谱线
特征谱线以窄高斯函数建模（σ = 0.15 keV）
叠加泊松统计噪声，模拟真实测量中的计数涨落
总计数率：10⁵ cps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04  CdTe探测器响应仿真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297680" cy="5166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4297680" cy="438912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探测器物理参数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厚度：2.0 mm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偏置电压：500 V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Fano因子：0.10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电子-空穴对能量：4.43 eV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电子噪声FWHM：0.50 keV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材料密度：5.85 g/cm³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基础量子效率：95%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234440"/>
            <a:ext cx="7040880" cy="2286000"/>
          </a:xfrm>
          <a:prstGeom prst="rect">
            <a:avLst/>
          </a:prstGeom>
          <a:solidFill>
            <a:srgbClr val="F5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234440"/>
            <a:ext cx="704088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52728"/>
            <a:ext cx="6949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能量分辨率模型（Fano + 电子噪声）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647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微软雅黑"/>
              </a:rPr>
              <a:t>FWHM_total = √(FWHM_stat² + FWHM_noise²)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3172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微软雅黑"/>
              </a:rPr>
              <a:t>FWHM_stat = 2.355 × √(F × w × E)  （Fano统计展宽）
FWHM_noise = 0.50 keV              （固定电子噪声）
典型值：10 keV → ~5%，59 keV → ~1.2%，100 keV → ~0.9%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657600"/>
            <a:ext cx="7040880" cy="2651760"/>
          </a:xfrm>
          <a:prstGeom prst="rect">
            <a:avLst/>
          </a:prstGeom>
          <a:solidFill>
            <a:srgbClr val="FD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3657600"/>
            <a:ext cx="7040880" cy="43891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675887"/>
            <a:ext cx="6949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能量依赖探测效率模型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206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  <a:latin typeface="微软雅黑"/>
              </a:rPr>
              <a:t>η(E) = η₀ × 低能修正 × Beer-Lambert高能修正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8006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微软雅黑"/>
              </a:rPr>
              <a:t>低能修正：[1 − exp(−(E−E_win)/E_char)]，截止~4 keV
高能修正（穿透损失）：[1 − exp(−μ(E)·ρ·d)]
质量衰减系数：μ(E) ≈ μ₀ × (E₀/E)^2.7
基础效率 η₀ = 95%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05  脉冲波形模型与堆积效应仿真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25603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438912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双指数脉冲波形模型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64792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8"/>
                </a:solidFill>
                <a:latin typeface="微软雅黑"/>
              </a:rPr>
              <a:t>V(t) = A · [1 − exp(−(t−t₀)/τ_rise)] · exp(−(t−t₀)/τ_fall)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A5C"/>
                </a:solidFill>
                <a:latin typeface="微软雅黑"/>
              </a:rPr>
              <a:t>τ_rise = 0.10 μs → 电子快速漂移至阳极（电子迁移率高）
τ_fall  = 2.00 μs → 空穴缓慢漂移至阴极（空穴迁移率低）
脉冲幅度 A 正比于入射光子能量
堆积条件：Δt &lt; τ_fall = 2.0 μs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2560320"/>
          </a:xfrm>
          <a:prstGeom prst="rect">
            <a:avLst/>
          </a:prstGeom>
          <a:solidFill>
            <a:srgbClr val="FD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760720" cy="43891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52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蒙特卡洛堆积仿真算法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按源谱概率分布抽样25,000个光子能量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按泊松过程生成指数分布到达时间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扫描相邻光子时间间隔Δt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若 Δt &lt; τ：记录堆积事件(E₁+E₂)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若 Δt ≥ τ：记录独立事件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统计堆积率、计数损失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77639"/>
            <a:ext cx="11612880" cy="242316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77639"/>
            <a:ext cx="1161288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995928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堆积效应对能谱的影响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262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微软雅黑"/>
              </a:rPr>
              <a:t>▶ 高能端虚假计数：能量 &gt; 0.5 E_max 区域出现明显虚假计数峰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微软雅黑"/>
              </a:rPr>
              <a:t>▶ 计数率低估：实际记录光子数比真实值约低15–20%（理论堆积概率≈18.1%）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微软雅黑"/>
              </a:rPr>
              <a:t>▶ 能谱斜率变化：连续谱高能端整体抬高，特征峰强度比例失真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06  去堆积校正算法（迭代去卷积）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12880" cy="13258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1612880" cy="438912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物理原理：测量谱分解模型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3A5C"/>
                </a:solidFill>
                <a:latin typeface="微软雅黑"/>
              </a:rPr>
              <a:t>M(E) = S(E) + p · [S ⊗ S](E) + O(p²)
其中 M(E)：测量谱，S(E)：真实谱，p：堆积概率，⊗：卷积运算符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97480"/>
            <a:ext cx="7040880" cy="3703320"/>
          </a:xfrm>
          <a:prstGeom prst="rect">
            <a:avLst/>
          </a:prstGeom>
          <a:solidFill>
            <a:srgbClr val="F5F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97480"/>
            <a:ext cx="704088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715768"/>
            <a:ext cx="6949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迭代算法（共12次迭代）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68580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初始化：S₀ = M（以测量谱为起点）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归一化当前估计谱为概率密度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计算堆积贡献：C_k = p_k · (S_norm ⊗ S_norm) · ‖M‖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更新估计：S_{k+1} = max(M − C_k, 0)（非负约束）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前9次迭代施加高斯平滑（σ=0.6），防止振荡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动态更新堆积概率：p_{k+1} ∝ (‖M‖ − ‖S‖) / ‖M‖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重复直至第12次迭代完成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697480"/>
            <a:ext cx="4297680" cy="3703320"/>
          </a:xfrm>
          <a:prstGeom prst="rect">
            <a:avLst/>
          </a:prstGeom>
          <a:solidFill>
            <a:srgbClr val="FD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0" y="2697480"/>
            <a:ext cx="4297680" cy="43891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271576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校正效果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246120"/>
            <a:ext cx="41148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高能端虚假计数有效去除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特征谱线峰位未发生偏移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总计数量基本还原至真实水平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校正精度约90%以上</a:t>
            </a:r>
          </a:p>
          <a:p>
            <a:pPr algn="l"/>
            <a:r>
              <a:rPr sz="1100">
                <a:solidFill>
                  <a:srgbClr val="1A3A5C"/>
                </a:solidFill>
                <a:latin typeface="微软雅黑"/>
              </a:rPr>
              <a:t>   • 注意：高斯平滑导致</a:t>
            </a:r>
          </a:p>
          <a:p>
            <a:pPr algn="l"/>
            <a:r>
              <a:rPr sz="1100">
                <a:solidFill>
                  <a:srgbClr val="1A3A5C"/>
                </a:solidFill>
                <a:latin typeface="微软雅黑"/>
              </a:rPr>
              <a:t>   •   轻微能量分辨率损失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07  可视化输出与结果分析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5166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438912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综合分析图（7子图）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647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微软雅黑"/>
              </a:rPr>
              <a:t>文件：CdTe_pileup_analysis.png（1800×1400 px）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X射线源能谱（连续+特征线标注）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能量分辨率曲线（FWHM vs 能量）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理想探测谱（低计数率，无堆积）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堆积污染谱（高计数率测量谱）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去堆积校正谱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脉冲波形对比（孤立 vs 堆积）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探测效率曲线（能量依赖性）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5166360"/>
          </a:xfrm>
          <a:prstGeom prst="rect">
            <a:avLst/>
          </a:prstGeom>
          <a:solidFill>
            <a:srgbClr val="FD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760720" cy="438912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252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能谱对比图（4子图）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647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微软雅黑"/>
              </a:rPr>
              <a:t>文件：CdTe_spectrum_comparison.png（1400×1000 px）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4884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源谱分解（连续+特征线分量）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探测谱组成（连续+特征峰叠加）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堆积效应对比（堆积区高亮显示）</a:t>
            </a:r>
          </a:p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▶ 去堆积效果验证（三谱叠加对比）</a:t>
            </a:r>
          </a:p>
          <a:p>
            <a:pPr algn="l"/>
            <a:r>
              <a:rPr sz="1100">
                <a:solidFill>
                  <a:srgbClr val="1A3A5C"/>
                </a:solidFill>
                <a:latin typeface="微软雅黑"/>
              </a:rPr>
              <a:t>   •   - 红色：堆积污染谱</a:t>
            </a:r>
          </a:p>
          <a:p>
            <a:pPr algn="l"/>
            <a:r>
              <a:rPr sz="1100">
                <a:solidFill>
                  <a:srgbClr val="1A3A5C"/>
                </a:solidFill>
                <a:latin typeface="微软雅黑"/>
              </a:rPr>
              <a:t>   •   - 紫色：校正后谱</a:t>
            </a:r>
          </a:p>
          <a:p>
            <a:pPr algn="l"/>
            <a:r>
              <a:rPr sz="1100">
                <a:solidFill>
                  <a:srgbClr val="1A3A5C"/>
                </a:solidFill>
                <a:latin typeface="微软雅黑"/>
              </a:rPr>
              <a:t>   •   - 绿色虚线：理想参考谱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91440" cy="580644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/>
              </a:rPr>
              <a:t>结论与展望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577840" cy="320040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57784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✅  主要成果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✓ 基于物理的完整X射线源能谱模型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✓ CdTe探测器响应全面仿真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✓ 高保真度蒙特卡洛堆积效应仿真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✓ 有效的迭代去卷积校正（精度≥90%）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✓ 完整的综合可视化分析系统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34440"/>
            <a:ext cx="5760720" cy="320040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760720" cy="438912"/>
          </a:xfrm>
          <a:prstGeom prst="rect">
            <a:avLst/>
          </a:prstGeom>
          <a:solidFill>
            <a:srgbClr val="773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25272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🔭  未来改进方向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多阶堆积处理（三阶及以上）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引入真实实验数据验证算法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探索深度学习去堆积方案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开发图形用户界面（GUI）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推广至其他半导体探测器</a:t>
            </a:r>
          </a:p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▶ GPU/多核并行加速仿真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17720"/>
            <a:ext cx="11612880" cy="178308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4617720"/>
            <a:ext cx="11612880" cy="438912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4636008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软雅黑"/>
              </a:rPr>
              <a:t>技术栈与依赖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112471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3A5C"/>
                </a:solidFill>
                <a:latin typeface="微软雅黑"/>
              </a:rPr>
              <a:t>Python 3.x   |   NumPy ≥ 1.24（数值计算）   |   Matplotlib ≥ 3.7（可视化）   |   SciPy ≥ 1.10（科学计算）
运行方式：python CdTe_detector_simulation.py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91840"/>
            <a:ext cx="4873752" cy="4572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6E8F5"/>
                </a:solidFill>
                <a:latin typeface="微软雅黑"/>
              </a:rPr>
              <a:t>CdTe探测器脉冲堆积效应仿真与分析工具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AACC"/>
                </a:solidFill>
                <a:latin typeface="微软雅黑"/>
              </a:rPr>
              <a:t>代码仓库：Simulation-and-Analysis-Tool-for-Pulse-Accumulation-Effect-of-CdTe-Detectors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8F5"/>
                </a:solidFill>
                <a:latin typeface="微软雅黑"/>
              </a:rPr>
              <a:t>2026年3月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